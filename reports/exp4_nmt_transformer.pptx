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3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cas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228600"/>
            <a:ext cx="1188720" cy="10698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实验四：基于 Transformer 的神经机器翻译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154680"/>
            <a:ext cx="86868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F0"/>
                </a:solidFill>
              </a:rPr>
              <a:t>中英 Encoder-Decoder NMT  |  BLEU-4 = 14.93 ✅  |  PyTorch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8D0"/>
                </a:solidFill>
              </a:rPr>
              <a:t>WevYang　|　中国科学院大学  深度学习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任务：中文→英文神经机器翻译（Chinese→English NMT）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数据集：NiuTrans 开源中英平行语料库，约 100K 句对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解决方案：Transformer Encoder-Decoder + 正弦位置编码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训练：teacher forcing + causal mask；推理：Beam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评估指标：BLEU-4（目标 &gt; 14）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最终结果：test BLEU-4 = 14.93，超过目标要求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优化路径：v1（贪心，10ep）= 12.39 → v2（beam=4，20ep）= 14.93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数据集介绍：NiuTrans 中英平行语料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来源：NiuTrans 项目开源数据，新闻领域中英句对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规模：训练集 ~100K 对，验证集 ~1K，测试集 ~1K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中文已做分词（词间空格分隔），英文转小写，不需额外分词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词汇表含 3 个特殊符号：&lt;unk&gt;（低频词）、&lt;s&gt;（句首）、&lt;/s&gt;（句尾）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中文词表约 30K，英文词表约 25K（低频词统一替换为 &lt;unk&gt;）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数据样例：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中：北约 不少 飞机 不得不 携 返航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4398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英：many nato planes had to return to base laden with munitions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解决方案：Transformer 模型结构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整体框架：Encoder-Decoder，基于 PyTorch nn.Transformer（batch_first=True）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编码器（Encoder，3层）：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中文 Embedding(d=256) × √256 + 正弦位置编码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每层：多头自注意力（4头）+ FFN（d_ff=512）+ LayerNorm + 残差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解码器（Decoder，3层）：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英文 Embedding × √256 + 正弦位置编码 + causal mask（防偷看未来）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每层：掩码自注意力 + 交叉注意力（与 Encoder 交互）+ FFN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44398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生成头：Linear(256 → tgt_vocab_size)，预测下一个英文词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解决方案：优化策略（v1→v2 改进）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v1 基线（BLEU=12.39）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训练 10 epochs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推理：贪心解码（argmax）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无梯度裁剪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验证集：100 样本 + 贪心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结果不达标，差距 1.61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v2 优化（BLEU=14.93 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延长训练至 20 epochs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推理：Beam Search（beam=4，α=0.7）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梯度裁剪（clip_norm = 1.0）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Label Smoothing（ε=0.1）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三项改进合计 +2.54 BLEU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核心代码：Beam Search 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114757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11201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3E3"/>
                </a:solidFill>
              </a:rPr>
              <a:t>def beam_search_sentence(model, src_tokens, data, device,
                          max_len, beam_size=4, length_penalty=0.7):
    # 初始化：单条束，序列为 [&lt;bos&gt;]
    beams     = [(0.0, [tgt_vocab.bos_idx])]   # (累计log概率, 序列)
    completed = []                              # 已生成 &lt;/s&gt; 的序列
    for _ in range(max_len):
        candidates = []
        for score, seq in beams:
            logits   = model(src, tgt_tensor, src_mask, tgt_mask)
            log_prob = torch.log_softmax(logits[0, -1], dim=-1)
            top_p, top_id = log_prob.topk(beam_size)
            for p, idx in zip(top_p, top_id):
                candidates.append((score + p, seq + [idx]))
        # 按长度惩罚评分排序：score / len(seq)^alpha
        candidates.sort(
            key=lambda x: x[0] / len(x[1])**length_penalty,
            reverse=True)
        beams = candidates[:beam_size]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length_penalty=0.7（α&lt;1）轻度鼓励长句，防止模型偏好过短翻译。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训练过程：20 epoch 收敛曲线（关键节点）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Epoch  1：dev_bleu =  4.77  （模型初步学习对齐）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Epoch  4：dev_bleu = 11.96  （快速提升期，loss 从 5.9 降至 4.6）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Epoch 12：dev_bleu = 14.39  （首次突破目标值 14）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Epoch 13：dev_bleu = 16.63  ★ 最佳，保存 best.pt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Epoch 14：dev_bleu = 16.39  （后期波动，CosineAnnealingLR 起作用）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Epoch 20：dev_bleu = 15.30  （最终 epoch，损失持续缓慢下降）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使用 best.pt（epoch 13）进行测试集评估：test BLEU = 14.93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实验结果与分析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27198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27198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27271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14.93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7271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test BLEU-4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33472"/>
            <a:ext cx="272719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✅ &gt;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0118" y="1097280"/>
            <a:ext cx="2727198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30118" y="1097280"/>
            <a:ext cx="2727198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0118" y="1234440"/>
            <a:ext cx="27271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16.63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118" y="2194560"/>
            <a:ext cx="27271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best dev BLEU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118" y="2633472"/>
            <a:ext cx="272719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epoch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6" y="1097280"/>
            <a:ext cx="2727198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4476" y="1097280"/>
            <a:ext cx="2727198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4476" y="1234440"/>
            <a:ext cx="27271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3.5903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4476" y="2194560"/>
            <a:ext cx="27271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test_loss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8834" y="1097280"/>
            <a:ext cx="2727198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8834" y="1097280"/>
            <a:ext cx="2727198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8834" y="1234440"/>
            <a:ext cx="272719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+2.54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8834" y="2194560"/>
            <a:ext cx="27271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v1→v2 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1546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翻译样例（beam=4）：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6301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SRC：北约 不少 飞机 不得不 携 返航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1056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HYP：many nato planes have suddenly left the us plane for the planes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58114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SRC：世界 和平 需要 各国 共同 努力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056631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</a:rPr>
              <a:t>    – HYP：world peace requires common efforts to be made in the world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32119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Beam Search 相比贪心解码提升约 +2 BLEU，长度惩罚避免了过短输出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实现了完整的 Transformer NMT：正弦位置编码、causal mask、beam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通过「延长训练 + Beam Search + 梯度裁剪」三项优化，从 12.39 提升至 14.93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Label Smoothing 减少模型对训练集的过度自信，提升泛化能力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当前模型层数（3层）较原论文（6层）偏浅，在 GPU 资源受限时是合理取舍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改进方向①：增大 d_model（256→512）和层数，提升模型容量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改进方向②：使用 BPE 子词分词替代词粒度，减少 OOV 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改进方向③：引入 Warmup 学习率调度，进一步稳定训练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