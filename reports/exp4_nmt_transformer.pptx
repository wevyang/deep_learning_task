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3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国科大标准Logo横式一（白色）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4232" y="256032"/>
            <a:ext cx="320040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7373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实验四：基于 Transformer 的神经机器翻译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154680"/>
            <a:ext cx="8686800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8D8F0"/>
                </a:solidFill>
              </a:rPr>
              <a:t>中英 Encoder-Decoder NMT  |  BLEU-4 = 14.93 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0B8D0"/>
                </a:solidFill>
              </a:rPr>
              <a:t>冯明　202528013229074　|　中国科学院大学  深度学习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任务：中文→英文神经机器翻译（Chinese→English NMT）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数据集：NiuTrans 开源中英平行语料库，约 100K 句对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解决方案：Transformer Encoder-Decoder + 正弦位置编码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训练：teacher forcing + causal mask；推理：Beam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评估指标：BLEU-4（目标 &gt; 14）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最终结果：test BLEU-4 = 14.93，超过目标要求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优化路径：v1（贪心，10ep，12.39）→ v2（beam=4，20ep，14.93）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数据集介绍：NiuTrans 中英平行语料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来源：NiuTrans 项目开源数据，新闻领域中英句对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规模：训练集 ~100K 句对，验证集 ~1K，测试集 ~1K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中文已做分词（词间空格分隔），英文转小写，不需额外分词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词汇表含 3 个特殊符号：&lt;unk&gt;（低频词）、&lt;s&gt;（句首）、&lt;/s&gt;（句尾）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中文词表约 30K，英文词表约 25K，低频词统一替换为 &lt;unk&gt;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数据样例：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中：北约 不少 飞机 不得不 携弹 返航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44398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英：many nato planes had to return to base laden with munitions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解决方案：Transformer 模型结构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整体框架：Encoder-Decoder，基于 PyTorch nn.Transformer（batch_first=True）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编码器（Encoder，3层）：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中文 Embedding(d=256) × √256 + 正弦位置编码（PE）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每层：多头自注意力（4头）+ FFN（d_ff=512）+ LayerNorm + 残差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解码器（Decoder，3层）：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英文 Embedding × √256 + PE + causal mask（防止偷看未来词）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每层：掩码自注意力 + 交叉注意力（与 Encoder 交互）+ FFN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44398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输出头：Linear(256 → tgt_vocab_size)，预测下一个英文词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解决方案：优化策略（v1→v2 改进）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v1 基线（BLEU=12.39）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训练 10 epochs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推理：贪心解码（argmax）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无梯度裁剪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验证：100 样本 + 贪心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结果不达标，差距 1.61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v2 优化（BLEU=14.93 ✅）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延长训练至 20 epochs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推理：Beam Search（beam=4，α=0.7）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梯度裁剪（clip_norm=1.0）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Label Smoothing（ε=0.1）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三项改进合计 +2.54 BLEU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核心代码：正弦位置编码与模型前向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114757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15568"/>
            <a:ext cx="11201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3E3"/>
                </a:solidFill>
              </a:rPr>
              <a:t>class PositionalEncoding(nn.Module):
    def __init__(self, d_model, dropout=0.1, max_len=512):
        super().__init__()
        self.dropout = nn.Dropout(dropout)
        pe = torch.zeros(max_len, d_model)
        pos = torch.arange(max_len).unsqueeze(1).float()
        div = torch.exp(torch.arange(0, d_model, 2).float()
                        * (-math.log(10000.0) / d_model))
        pe[:, 0::2] = torch.sin(pos * div)   # 偶数维
        pe[:, 1::2] = torch.cos(pos * div)   # 奇数维
        self.register_buffer('pe', pe.unsqueeze(0))
    def forward(self, x):   # x: (B, T, d_model)
        return self.dropout(x + self.pe[:, :x.size(1)])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正弦/余弦交替编码位置，不同频率捕捉不同尺度的位置信息，支持任意长度。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核心代码：Beam Search 解码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114757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15568"/>
            <a:ext cx="11201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3E3"/>
                </a:solidFill>
              </a:rPr>
              <a:t>def beam_search(model, src, beam_size=4, length_penalty=0.7):
    beams     = [(0.0, [bos_idx])]   # (累计log概率, 序列)
    completed = []
    for _ in range(max_len):
        candidates = []
        for score, seq in beams:
            tgt = torch.tensor([seq]).to(device)
            logits   = model(src, tgt, ...)    # Transformer 前向
            log_prob = torch.log_softmax(logits[0,-1], dim=-1)
            top_p, top_id = log_prob.topk(beam_size)
            for p, idx in zip(top_p, top_id):
                candidates.append((score + p.item(), seq + [idx.item()]))
        # 按长度惩罚评分：score / len^alpha，防止偏向短句
        candidates.sort(
            key=lambda x: x[0] / (len(x[1]) ** length_penalty),
            reverse=True)
        beams = candidates[:beam_size]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length_penalty=0.7（α&lt;1）适度鼓励长句输出，防止模型偏好过短翻译。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训练过程：20 epoch 关键节点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Epoch  1：dev_bleu =  4.77  （模型初步学习词对齐）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Epoch  4：dev_bleu = 11.96  （快速提升期，loss 从 5.9 降至 4.6）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Epoch 12：dev_bleu = 14.39  （首次突破目标值 14）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Epoch 13：dev_bleu = 16.63  ★ 最佳，保存 best.pt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Epoch 14：dev_bleu = 16.39  （后期轻微波动，训练趋于稳定）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Epoch 20：dev_bleu = 15.30  （最终 epoch，loss 持续缓慢下降）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使用 best.pt（epoch 13）进行测试集评估：test BLEU = 14.93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实验结果与翻译样例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14.93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test BLEU-4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33472"/>
            <a:ext cx="3681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✅ &gt;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84904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84904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84904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16.63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4904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best dev BLEU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4904" y="2633472"/>
            <a:ext cx="3681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epoch 13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4048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4048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4048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3.5903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4048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test loss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15468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各分量 BLEU：BLEU-1=44.2  BLEU-2=22.8  BLEU-3=16.1  BLEU-4=14.93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6301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SRC：北约 不少 飞机 不得不 携弹 返航  →  HYP：many nato planes have suddenly left the us plane for the planes 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1056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SRC：世界 和平 需要 各国 共同 努力  →  HYP：world peace requires common efforts to be made in the world 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581144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SRC：中国 经济 保持 稳定 发展  →  HYP：china 's economy is maintaining stability and development 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056631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v1 贪心 BLEU=12.39 → +beam_search=13.8 → +20ep+clip+smooth=14.93（各步骤增量清晰）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训练曲线分析</a:t>
            </a:r>
          </a:p>
        </p:txBody>
      </p:sp>
      <p:pic>
        <p:nvPicPr>
          <p:cNvPr id="5" name="Picture 4" descr="exp4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1051560"/>
            <a:ext cx="7589520" cy="5212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1115568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1C"/>
                </a:solidFill>
              </a:rPr>
              <a:t>▸ Loss 曲线（左图）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1627632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train_loss: 5.92→3.80（持续下降）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2139696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dev_loss: 5.05→3.51（稳定收敛）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651760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1C"/>
                </a:solidFill>
              </a:rPr>
              <a:t>▸ BLEU 曲线（右图）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3163824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ep4 快速跳升至 11.96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675887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ep12 首次破 14（目标线）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4187952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ep13 最优 dev=16.63（红点）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4700016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橙色虚线：test_BLEU=14.93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5212080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1C"/>
                </a:solidFill>
              </a:rPr>
              <a:t>▸ 关键结论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5724144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Beam Search 贡献最大（约+1.5）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6236208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ep13 后 BLEU 轻微波动但维持≥14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实现了完整 Transformer NMT：正弦位置编码、causal mask、Beam 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通过「延长训练 + Beam Search + 梯度裁剪 + Label Smoothing」将 BLEU 从 12.39 提升至 14.93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Label Smoothing 减少模型对训练集的过度自信，提升泛化，尤其对低频词有效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当前 3 层 Transformer 在 GPU 资源受限时是合理取舍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改进方向①：增大 d_model（256→512）和层数，提升翻译质量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改进方向②：使用 BPE 子词分词替代词粒度，减少 OOV 问题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改进方向③：引入 Warmup 学习率调度（如 Noam Scheduler），进一步稳定训练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