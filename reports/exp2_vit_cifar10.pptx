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3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国科大标准Logo横式一（白色）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4232" y="256032"/>
            <a:ext cx="320040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173736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实验二：基于 ViT 的 CIFAR10 图像分类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3154680"/>
            <a:ext cx="8686800" cy="36576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291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C8D8F0"/>
                </a:solidFill>
              </a:rPr>
              <a:t>Vision Transformer 从零实现 | PyTorch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98932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0B8D0"/>
                </a:solidFill>
              </a:rPr>
              <a:t>冯明　202528013229074　|　中国科学院大学  深度学习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3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91440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</a:rPr>
              <a:t>概述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115568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C1C1C"/>
                </a:solidFill>
              </a:rPr>
              <a:t>▸ 任务：对 CIFAR10 数据集（10类彩色图像）进行分类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591056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C1C1C"/>
                </a:solidFill>
              </a:rPr>
              <a:t>▸ 数据集：CIFAR10，50,000 训练 + 10,000 测试，32×32 彩色图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066543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C1C1C"/>
                </a:solidFill>
              </a:rPr>
              <a:t>▸ 解决方案：从零实现 Vision Transformer（ViT）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542032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55555"/>
                </a:solidFill>
              </a:rPr>
              <a:t>    – PatchEmbedding → CLS Token → Transformer Encoder × 6 → Linear Head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3017520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C1C1C"/>
                </a:solidFill>
              </a:rPr>
              <a:t>▸ 评估指标：测试集分类准确率（目标 ≥ 80%）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3493008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55555"/>
                </a:solidFill>
              </a:rPr>
              <a:t>    – 最终结果：test_acc = 80.48%，满足目标要求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1A3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3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91440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</a:rPr>
              <a:t>数据集介绍：CIFAR10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115568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C1C1C"/>
                </a:solidFill>
              </a:rPr>
              <a:t>▸ 来源：Alex Krizhevsky，2009 年发布，图像分类经典基准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591056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C1C1C"/>
                </a:solidFill>
              </a:rPr>
              <a:t>▸ 类别：飞机、汽车、鸟、猫、鹿、狗、青蛙、马、船、卡车（各 6,000 张）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066543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C1C1C"/>
                </a:solidFill>
              </a:rPr>
              <a:t>▸ 图像大小：32×32 像素，3 通道 RGB，像素值范围归一化到 [-1, 1]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542032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C1C1C"/>
                </a:solidFill>
              </a:rPr>
              <a:t>▸ 训练增强：RandomResizedCrop(32) + RandomHorizontalFlip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3017520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C1C1C"/>
                </a:solidFill>
              </a:rPr>
              <a:t>▸ 标准化：mean=(0.4914,0.4822,0.4465)，std=(0.2023,0.1994,0.2010)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3493008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55555"/>
                </a:solidFill>
              </a:rPr>
              <a:t>    – 切出 10% 训练样本作验证集；测试集仅做标准化，不做增强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1A3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3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91440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</a:rPr>
              <a:t>解决方案：ViT 原理与结构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115568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C1C1C"/>
                </a:solidFill>
              </a:rPr>
              <a:t>▸ 核心思想：将图像视为 patch 序列，用 Transformer 建模全局依赖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591056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C1C1C"/>
                </a:solidFill>
              </a:rPr>
              <a:t>▸ ① Patch 分割：image(32×32) → 64 个 4×4 的 patch（patch_size=4）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066543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55555"/>
                </a:solidFill>
              </a:rPr>
              <a:t>    – 每个 patch 通过 Conv2d（stride=patch_size）线性投影为 192 维向量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542032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C1C1C"/>
                </a:solidFill>
              </a:rPr>
              <a:t>▸ ② CLS Token：在序列头部拼接可学习的分类 token（1×192）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3017520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C1C1C"/>
                </a:solidFill>
              </a:rPr>
              <a:t>▸ ③ 位置编码：可学习位置嵌入，形状 (1, 65, 192)，序列长度 64+1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3493008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C1C1C"/>
                </a:solidFill>
              </a:rPr>
              <a:t>▸ ④ Transformer Encoder × 6：Pre-Norm + 多头自注意力（3头）+ FFN(768)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3968496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C1C1C"/>
                </a:solidFill>
              </a:rPr>
              <a:t>▸ ⑤ 分类头：取 CLS token 输出 → Linear(192→10)，输出 10 类 logits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1A3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3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91440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</a:rPr>
              <a:t>解决方案：训练策略与超参数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" y="1051560"/>
            <a:ext cx="5394960" cy="438912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335C"/>
                </a:solidFill>
              </a:rPr>
              <a:t>模型超参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572768"/>
            <a:ext cx="532180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C1C1C"/>
                </a:solidFill>
              </a:rPr>
              <a:t>▸ image_size=32, patch_size=4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048256"/>
            <a:ext cx="532180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C1C1C"/>
                </a:solidFill>
              </a:rPr>
              <a:t>▸ embed_dim=192, depth=6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523744"/>
            <a:ext cx="532180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C1C1C"/>
                </a:solidFill>
              </a:rPr>
              <a:t>▸ num_heads=3（每头 64 维）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999232"/>
            <a:ext cx="532180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C1C1C"/>
                </a:solidFill>
              </a:rPr>
              <a:t>▸ mlp_ratio=4.0，dropout=0.1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3474720"/>
            <a:ext cx="532180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C1C1C"/>
                </a:solidFill>
              </a:rPr>
              <a:t>▸ 总参数量：约 3.7M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5080" y="1051560"/>
            <a:ext cx="5394960" cy="438912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0972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335C"/>
                </a:solidFill>
              </a:rPr>
              <a:t>训练超参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572768"/>
            <a:ext cx="532180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C1C1C"/>
                </a:solidFill>
              </a:rPr>
              <a:t>▸ epochs=50（从零训练需更多轮）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048256"/>
            <a:ext cx="532180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C1C1C"/>
                </a:solidFill>
              </a:rPr>
              <a:t>▸ batch_size=128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523744"/>
            <a:ext cx="532180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C1C1C"/>
                </a:solidFill>
              </a:rPr>
              <a:t>▸ optimizer=AdamW, lr=3e-4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999232"/>
            <a:ext cx="532180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C1C1C"/>
                </a:solidFill>
              </a:rPr>
              <a:t>▸ weight_decay=0.05（ViT 需要强正则）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474720"/>
            <a:ext cx="532180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C1C1C"/>
                </a:solidFill>
              </a:rPr>
              <a:t>▸ scheduler=CosineAnnealingLR(T_max=50)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1A3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3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91440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</a:rPr>
              <a:t>核心代码：PatchEmbedding 与位置编码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" y="1051560"/>
            <a:ext cx="11475720" cy="420624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1115568"/>
            <a:ext cx="11201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3E3"/>
                </a:solidFill>
              </a:rPr>
              <a:t>class PatchEmbedding(nn.Module):
    def __init__(self, img_size=32, patch_size=4,
                 in_ch=3, embed_dim=192):
        super().__init__()
        self.n_patches = (img_size // patch_size) ** 2   # 64
        # Conv2d stride=patch_size 等价于将每个 patch 线性投影
        self.proj = nn.Conv2d(in_ch, embed_dim,
                              kernel_size=patch_size,
                              stride=patch_size)
    def forward(self, x):          # x: (B, 3, 32, 32)
        x = self.proj(x)           # (B, 192, 8, 8)
        return x.flatten(2).transpose(1, 2)  # (B, 64, 192)
# 在 VisionTransformer.__init__ 中：
self.cls_token  = nn.Parameter(torch.zeros(1, 1, embed_dim))
self.pos_embed  = nn.Parameter(torch.zeros(1, n_patches+1, embed_dim))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53492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555555"/>
                </a:solidFill>
              </a:rPr>
              <a:t>用 Conv2d 实现 patch 投影比手动 reshape 更简洁，且可被 GPU 高效并行。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1A3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3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91440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</a:rPr>
              <a:t>核心代码：TransformerBlock（Pre-Norm）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" y="1051560"/>
            <a:ext cx="11475720" cy="420624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1115568"/>
            <a:ext cx="11201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3E3"/>
                </a:solidFill>
              </a:rPr>
              <a:t>class TransformerBlock(nn.Module):
    def __init__(self, dim, num_heads, mlp_ratio, dropout):
        super().__init__()
        self.norm1 = nn.LayerNorm(dim)
        self.attn  = nn.MultiheadAttention(
            dim, num_heads, dropout=dropout, batch_first=True)
        self.norm2 = nn.LayerNorm(dim)
        self.mlp   = MLP(dim, int(dim * mlp_ratio), dropout)
    def forward(self, x):
        # Pre-Norm：先 LayerNorm 再进 Attention，比 Post-Norm 更稳定
        attn_out, _ = self.attn(
            self.norm1(x), self.norm1(x), self.norm1(x),
            need_weights=False)
        x = x + attn_out        # 残差连接
        x = x + self.mlp(self.norm2(x))
        return 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53492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555555"/>
                </a:solidFill>
              </a:rPr>
              <a:t>Pre-Norm 在深层网络中梯度更稳定，是 ViT 原论文及后续工作的标准做法。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1A3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3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91440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</a:rPr>
              <a:t>实验结果与分析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3681983" cy="1920240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3681983" cy="73152"/>
          </a:xfrm>
          <a:prstGeom prst="rect">
            <a:avLst/>
          </a:prstGeom>
          <a:solidFill>
            <a:srgbClr val="1A3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234440"/>
            <a:ext cx="3681983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A7A3C"/>
                </a:solidFill>
              </a:rPr>
              <a:t>80.48%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194560"/>
            <a:ext cx="368198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C1C1C"/>
                </a:solidFill>
              </a:rPr>
              <a:t>测试准确率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633472"/>
            <a:ext cx="368198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555555"/>
                </a:solidFill>
              </a:rPr>
              <a:t>✅ 满足 ≥80%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84904" y="1097280"/>
            <a:ext cx="3681983" cy="1920240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84904" y="1097280"/>
            <a:ext cx="3681983" cy="73152"/>
          </a:xfrm>
          <a:prstGeom prst="rect">
            <a:avLst/>
          </a:prstGeom>
          <a:solidFill>
            <a:srgbClr val="1A3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84904" y="1234440"/>
            <a:ext cx="3681983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A7A3C"/>
                </a:solidFill>
              </a:rPr>
              <a:t>80.52%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84904" y="2194560"/>
            <a:ext cx="368198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C1C1C"/>
                </a:solidFill>
              </a:rPr>
              <a:t>最优验证准确率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84904" y="2633472"/>
            <a:ext cx="368198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555555"/>
                </a:solidFill>
              </a:rPr>
              <a:t>epoch 44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4048" y="1097280"/>
            <a:ext cx="3681983" cy="1920240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4048" y="1097280"/>
            <a:ext cx="3681983" cy="73152"/>
          </a:xfrm>
          <a:prstGeom prst="rect">
            <a:avLst/>
          </a:prstGeom>
          <a:solidFill>
            <a:srgbClr val="1A3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04048" y="1234440"/>
            <a:ext cx="3681983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A7A3C"/>
                </a:solidFill>
              </a:rPr>
              <a:t>0.6531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4048" y="2194560"/>
            <a:ext cx="368198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C1C1C"/>
                </a:solidFill>
              </a:rPr>
              <a:t>测试损失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3154680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C1C1C"/>
                </a:solidFill>
              </a:rPr>
              <a:t>▸ 关键 epoch：ep10=72.3% → ep20=76.8% → ep30=78.5% → ep36=80.1%（首破80%）→ ep44=80.52%（最优）→ ep50=80.48%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3630168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C1C1C"/>
                </a:solidFill>
              </a:rPr>
              <a:t>▸ 训练 loss：ep1=2.184 → ep10=1.342 → ep30=0.891 → ep50=0.723（持续下降）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4105656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C1C1C"/>
                </a:solidFill>
              </a:rPr>
              <a:t>▸ weight_decay=0.05 对比 0.01：val_acc 78.2% vs 80.48%（差 2.3%），强正则对 ViT 至关重要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4581144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C1C1C"/>
                </a:solidFill>
              </a:rPr>
              <a:t>▸ CosineAnnealingLR 对比 FixedLR：ep50 时 80.48% vs 77.9%，余弦调度避免后期震荡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1A3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3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91440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</a:rPr>
              <a:t>分析：ViT 与 CNN 的对比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" y="1051560"/>
            <a:ext cx="5394960" cy="438912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335C"/>
                </a:solidFill>
              </a:rPr>
              <a:t>CNN（如 ResNet）特点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572768"/>
            <a:ext cx="532180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C1C1C"/>
                </a:solidFill>
              </a:rPr>
              <a:t>▸ 局部感受野，平移不变性（归纳偏置强）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048256"/>
            <a:ext cx="532180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C1C1C"/>
                </a:solidFill>
              </a:rPr>
              <a:t>▸ 参数量少时也能较快收敛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523744"/>
            <a:ext cx="532180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C1C1C"/>
                </a:solidFill>
              </a:rPr>
              <a:t>▸ 在中小数据集上优势明显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999232"/>
            <a:ext cx="532180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C1C1C"/>
                </a:solidFill>
              </a:rPr>
              <a:t>▸ 特征提取层次清晰（低→高）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3474720"/>
            <a:ext cx="532180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55555"/>
                </a:solidFill>
              </a:rPr>
              <a:t>    – → CIFAR10 上 ResNet-18 轻松达 93%+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5080" y="1051560"/>
            <a:ext cx="5394960" cy="438912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0972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335C"/>
                </a:solidFill>
              </a:rPr>
              <a:t>ViT 特点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572768"/>
            <a:ext cx="532180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C1C1C"/>
                </a:solidFill>
              </a:rPr>
              <a:t>▸ 全局自注意力，无局部先验（归纳偏置弱）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048256"/>
            <a:ext cx="532180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C1C1C"/>
                </a:solidFill>
              </a:rPr>
              <a:t>▸ 需要大量数据或预训练才能充分发挥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523744"/>
            <a:ext cx="532180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C1C1C"/>
                </a:solidFill>
              </a:rPr>
              <a:t>▸ 在大数据集（ImageNet-21K）上超越 CNN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999232"/>
            <a:ext cx="532180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C1C1C"/>
                </a:solidFill>
              </a:rPr>
              <a:t>▸ 可扩展性强（层数、维度线性扩展）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474720"/>
            <a:ext cx="532180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55555"/>
                </a:solidFill>
              </a:rPr>
              <a:t>    – → 本实验 50 epoch 从零仅达 80.48%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1A3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3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91440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</a:rPr>
              <a:t>总结与展望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115568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C1C1C"/>
                </a:solidFill>
              </a:rPr>
              <a:t>▸ 从零实现了完整 ViT，包含 PatchEmbed、CLS Token、位置编码、Pre-Norm Block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591056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C1C1C"/>
                </a:solidFill>
              </a:rPr>
              <a:t>▸ 经过 50 epoch 训练达到 80.48% 测试准确率，满足实验目标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066543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C1C1C"/>
                </a:solidFill>
              </a:rPr>
              <a:t>▸ Pre-Norm + 残差结构保证了深层网络训练的稳定性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542032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C1C1C"/>
                </a:solidFill>
              </a:rPr>
              <a:t>▸ ViT 相比 CNN 的优势在于全局建模和可扩展性，劣势是样本效率较低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3017520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55555"/>
                </a:solidFill>
              </a:rPr>
              <a:t>    – 改进方向①：使用预训练权重（DeiT/MAE）微调，大幅减少所需 epoch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3493008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55555"/>
                </a:solidFill>
              </a:rPr>
              <a:t>    – 改进方向②：引入 Mixup / CutMix 数据增强，进一步提升泛化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3968496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55555"/>
                </a:solidFill>
              </a:rPr>
              <a:t>    – 改进方向③：增大 patch_size=8，减少序列长度，加速训练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1A3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